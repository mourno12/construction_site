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CBC9-44DF-ECDB-17BB-BC9A66560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08A36-A959-C39D-9862-38F5C2FF5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748C1-311A-3C2F-FF61-F0851646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0DB8-E844-E563-5244-CC5C11B6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37E35-C445-37D8-4390-19CD767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1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5689-36AE-BEC8-79B5-3D105E18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5DA5-2864-3316-A972-F3895A6B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5548E-CBB6-7CEB-DC6F-3D8B88B1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4BC9-3C22-0ACC-F5D0-1AE6575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FB90-564E-2D07-C1CD-5553800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3C0D-731B-263F-9F57-86935E3A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90031-E56C-437E-5964-728DC745A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B0DB-A557-E5B2-405C-A5F2985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23D8-D372-0D84-A2D5-3EEEE615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636D-F0FF-3567-A68E-A74072CD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42B0-556F-08DB-AC87-902D1C52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14-A934-CA0A-E156-E63B38572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B5EA-1EED-F4A8-4DBF-5E8EC914A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A922-1FD6-0A7D-775C-C55D4629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421D-865A-20A8-DC0A-DA15E4D2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2AC07-B81D-B534-5979-5C4F942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8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1670-3DA8-038D-EBC2-E94615E2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9E6C5-8292-BED2-D301-B4CA8FDA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0C16E-70CF-EF86-C9CF-110B16D59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052C-3617-4B91-7190-75164900A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3A882-1930-E1D8-9F58-ECB5C7AF4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A3D16-A731-B2E2-C2D6-6F18D583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ECE7F-5D61-69E0-A21E-56ED3564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19D47-5176-81C2-B052-C19530D7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6FE1-08CA-FE3C-5D96-DA0BC2A0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E5D59-FAA9-8F31-A9DE-41EF62F4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9A12-D421-2E5C-F68F-972BFE65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1794-04A5-9B4C-6387-41AF0A16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1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C02C6-840E-0DCB-3119-179F9847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75AAC-63E4-EF22-384C-64272E3A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9C85D-3AAD-CCA8-204B-64780031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8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CA6D-63D8-C092-0BAF-562B2D59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3104-5EC5-B9AB-BBD3-AF216472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42D57-5F12-F5FF-CDDF-1B2CA3101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CF773-AFCC-A30C-BE56-BF26A9ED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2A64-88C8-FF56-DCB0-82234BE2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BEF1D-21CC-50BB-34B0-8CF89E6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4F17-B457-059F-510F-07CD3522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12430-3DFC-FDB0-01ED-FEE2BDDF1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9236E-424D-227D-57A2-4762E45C0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87F24-603C-9864-FD9A-33329FF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A4278-5C43-7178-DB16-9A10D2CA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4212-9431-E824-6CFC-5F83966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1585-D7A8-0E10-DE54-D91F0B90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18450-B7CE-7C93-2104-1D7DF1CAB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2EC5-B675-BDFE-237C-EE4E86F7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C380-7B1B-E265-C520-BB504698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AF144-9C06-46CB-C135-C80B5477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5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6C0EF-4125-7139-D265-C62C3D51F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9550C-BF20-F188-D0FB-73900EB0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0054-110A-DC8B-1061-C5CE70EA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5FCC-8AFC-A5F6-CA6D-D2AE2669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608C-45ED-2D7A-4A07-CA737E0D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456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D41F3-3695-A63F-0D83-0ACD59F5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4565B-72EB-02AE-FDC8-40B9FC818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0BCCA-DEF6-F76F-BB42-A7DCAAF47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14459-7212-4B7D-85E0-4CB880D37EC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50F9-1723-3D61-0CCD-5591678F1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26F8-64DC-AA7A-59F5-91C13FA1B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1666" y="1602403"/>
            <a:ext cx="57246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en-US" sz="2000" dirty="0" err="1" smtClean="0"/>
              <a:t>Project: First Monthly Progress Report (CA-2)</a:t>
            </a:r>
            <a:r>
              <a:rPr lang="en-US" sz="2000" dirty="0" smtClean="0"/>
              <a:t/>
            </a:r>
            <a:r>
              <a:rPr sz="2000" dirty="0" smtClean="0"/>
              <a:t/>
            </a:r>
            <a:r>
              <a:rPr lang="en-US" sz="2000" dirty="0" smtClean="0"/>
              <a:t/>
            </a:r>
            <a:r>
              <a:rPr lang="en-US" sz="2000" dirty="0"/>
              <a:t/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149156" y="2454475"/>
            <a:ext cx="41296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“EdgeGuard”</a:t>
            </a:r>
            <a:r>
              <a:rPr lang="en-US" sz="4000" dirty="0"/>
              <a:t/>
            </a:r>
            <a:r>
              <a:rPr sz="4000" dirty="0"/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40" y="5256460"/>
            <a:ext cx="269452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Guided By:</a:t>
            </a:r>
          </a:p>
          <a:p>
            <a:pPr algn="ctr"/>
            <a:r>
              <a:rPr dirty="0"/>
              <a:t>Dr. Deepak Dharrao</a:t>
            </a:r>
          </a:p>
          <a:p>
            <a:pPr algn="ctr"/>
            <a:r>
              <a:rPr dirty="0"/>
              <a:t>Guide, Dept.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1527" y="3876318"/>
            <a:ext cx="246894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/>
              <a:t>Mourno Mahamat – PRN 23070122250</a:t>
            </a:r>
          </a:p>
          <a:p>
            <a:pPr algn="ctr"/>
            <a:r>
              <a:rPr sz="1400" dirty="0"/>
              <a:t>Lauriane – PRN 23070122260</a:t>
            </a:r>
          </a:p>
          <a:p>
            <a:pPr algn="ctr"/>
            <a:r>
              <a:rPr sz="1400" dirty="0"/>
              <a:t>Bokhit Mahamat – PRN 23070122249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29" y="3452516"/>
            <a:ext cx="302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dirty="0"/>
              <a:t>Group Number:</a:t>
            </a:r>
            <a:r>
              <a:rPr lang="en-US" dirty="0"/>
              <a:t> </a:t>
            </a:r>
            <a:r>
              <a:rPr dirty="0"/>
              <a:t>Group –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6498491"/>
            <a:ext cx="50561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 dirty="0"/>
              <a:t>Department of Computer Engineering | Academic Year 2025–26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846C6-FF62-0B80-1678-62EAA0AB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32" y="129622"/>
            <a:ext cx="7208535" cy="11826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246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F6B"/>
                </a:solidFill>
              </a:rPr>
              <a:t>AI-Powered, Edge-Computing Safety Monitoring for Construction Sites — PPE, Worker-Fall &amp; Object-Fall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0C93-2A17-E60D-4071-AD81D056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EFBB0-906E-4F07-6031-67B411B35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 smtClean="0">
                <a:latin typeface="+mj-lt"/>
                <a:cs typeface="Times New Roman" panose="02020603050405020304" pitchFamily="18" charset="0"/>
              </a:rPr>
              <a:t>Introduction</a:t>
            </a:r>
            <a:endParaRPr lang="en-IN" altLang="en-US" dirty="0">
              <a:latin typeface="+mj-lt"/>
              <a:cs typeface="Times New Roman" panose="02020603050405020304" pitchFamily="18" charset="0"/>
            </a:endParaRP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>
                <a:latin typeface="+mj-lt"/>
                <a:cs typeface="Times New Roman" panose="02020603050405020304" pitchFamily="18" charset="0"/>
              </a:rPr>
              <a:t>Motivation</a:t>
            </a: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US" altLang="en-US" dirty="0" smtClean="0">
                <a:latin typeface="+mj-lt"/>
                <a:cs typeface="Times New Roman" panose="02020603050405020304" pitchFamily="18" charset="0"/>
              </a:rPr>
              <a:t>Status of Current Work</a:t>
            </a:r>
            <a:endParaRPr lang="en-IN" altLang="en-US" dirty="0" smtClean="0">
              <a:latin typeface="+mj-lt"/>
              <a:cs typeface="Times New Roman" panose="02020603050405020304" pitchFamily="18" charset="0"/>
            </a:endParaRP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 smtClean="0">
                <a:latin typeface="+mj-lt"/>
                <a:cs typeface="Times New Roman" panose="02020603050405020304" pitchFamily="18" charset="0"/>
              </a:rPr>
              <a:t>Research Gaps</a:t>
            </a:r>
            <a:endParaRPr lang="en-IN" altLang="en-US" dirty="0">
              <a:latin typeface="+mj-lt"/>
              <a:cs typeface="Times New Roman" panose="02020603050405020304" pitchFamily="18" charset="0"/>
            </a:endParaRP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dirty="0"/>
              <a:t>Problem-to-design mapping as per the GAP identified </a:t>
            </a:r>
            <a:endParaRPr lang="en-IN" dirty="0" smtClean="0"/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dirty="0"/>
              <a:t>System architecture diagram &amp; Database </a:t>
            </a:r>
            <a:r>
              <a:rPr lang="en-IN" dirty="0" smtClean="0"/>
              <a:t>Connectivity</a:t>
            </a: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US" altLang="en-US" dirty="0" smtClean="0">
                <a:latin typeface="+mj-lt"/>
                <a:cs typeface="Times New Roman" panose="02020603050405020304" pitchFamily="18" charset="0"/>
              </a:rPr>
              <a:t>Identified </a:t>
            </a:r>
            <a:r>
              <a:rPr lang="en-IN" smtClean="0"/>
              <a:t>tools/technologies </a:t>
            </a:r>
            <a:endParaRPr lang="en-IN" altLang="en-US">
              <a:latin typeface="+mj-lt"/>
              <a:cs typeface="Times New Roman" panose="02020603050405020304" pitchFamily="18" charset="0"/>
            </a:endParaRP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 smtClean="0">
                <a:latin typeface="+mj-lt"/>
                <a:cs typeface="Times New Roman" panose="02020603050405020304" pitchFamily="18" charset="0"/>
              </a:rPr>
              <a:t>Plan </a:t>
            </a:r>
            <a:r>
              <a:rPr lang="en-IN" altLang="en-US" dirty="0" smtClean="0">
                <a:latin typeface="+mj-lt"/>
                <a:cs typeface="Times New Roman" panose="02020603050405020304" pitchFamily="18" charset="0"/>
              </a:rPr>
              <a:t>of Next Work</a:t>
            </a:r>
            <a:endParaRPr lang="en-IN" altLang="en-US" dirty="0">
              <a:latin typeface="+mj-lt"/>
              <a:cs typeface="Times New Roman" panose="02020603050405020304" pitchFamily="18" charset="0"/>
            </a:endParaRP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>
                <a:latin typeface="+mj-lt"/>
                <a:cs typeface="Times New Roman" panose="02020603050405020304" pitchFamily="18" charset="0"/>
              </a:rPr>
              <a:t>Conclusion</a:t>
            </a:r>
          </a:p>
          <a:p>
            <a:pPr marL="431800" indent="-323850">
              <a:lnSpc>
                <a:spcPct val="128000"/>
              </a:lnSpc>
              <a:buClr>
                <a:srgbClr val="04617B"/>
              </a:buClr>
              <a:buSzPct val="45000"/>
              <a:buFont typeface="Wingdings" panose="05000000000000000000" pitchFamily="2" charset="2"/>
              <a:buChar char=""/>
              <a:tabLst>
                <a:tab pos="431800" algn="l"/>
                <a:tab pos="536575" algn="l"/>
                <a:tab pos="985838" algn="l"/>
                <a:tab pos="1435100" algn="l"/>
                <a:tab pos="1884363" algn="l"/>
                <a:tab pos="2333625" algn="l"/>
                <a:tab pos="2782888" algn="l"/>
                <a:tab pos="3232150" algn="l"/>
                <a:tab pos="3681413" algn="l"/>
                <a:tab pos="4130675" algn="l"/>
                <a:tab pos="4579938" algn="l"/>
                <a:tab pos="5029200" algn="l"/>
                <a:tab pos="5478463" algn="l"/>
                <a:tab pos="5927725" algn="l"/>
                <a:tab pos="6376988" algn="l"/>
                <a:tab pos="6826250" algn="l"/>
                <a:tab pos="7275513" algn="l"/>
                <a:tab pos="7724775" algn="l"/>
                <a:tab pos="8174038" algn="l"/>
                <a:tab pos="8623300" algn="l"/>
                <a:tab pos="9072563" algn="l"/>
                <a:tab pos="9434513" algn="l"/>
                <a:tab pos="9883775" algn="l"/>
                <a:tab pos="10333038" algn="l"/>
              </a:tabLst>
              <a:defRPr/>
            </a:pPr>
            <a:r>
              <a:rPr lang="en-IN" altLang="en-US" dirty="0">
                <a:latin typeface="+mj-lt"/>
                <a:cs typeface="Times New Roman" panose="02020603050405020304" pitchFamily="18" charset="0"/>
              </a:rPr>
              <a:t>References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23012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EdgeGuard (formerly SiteGuard) is a real-time, AI-powered safety-monitoring system for construction sites, built around an edge-computing-first design.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Watches a live webcam feed, an uploaded video, or a single image; detects every worker in frame and tracks them persistently.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Multi-item PPE compliance: helmet, vest, gloves, boots, and mask — checked per worker, per frame.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Worker-down detection: a dedicated fall classifier flags a fallen worker as a distinct, higher-severity event.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Falling-object detection: planned for the next phase, via tracked-object velocity analysis.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Full-stack web dashboard: live alerts, persistent worker log, session history, CSV/JSON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A33"/>
                </a:solidFill>
              </a:rPr>
              <a:t>OSHA's “Fatal Four” — falls, struck-by, caught-in/between, and electrocution — remain the leading causes of construction-worker fatalities.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A33"/>
                </a:solidFill>
              </a:rPr>
              <a:t>Manual monitoring doesn't scale: a site supervisor cannot watch every worker, on every task, at every hour — attention is finite; a camera feed is not.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A33"/>
                </a:solidFill>
              </a:rPr>
              <a:t>PPE compliance is the most basic, most preventable safety control — and the easiest one to silently slip 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A33"/>
                </a:solidFill>
              </a:rPr>
              <a:t>Why edge computing: cloud-only inference adds latency, needs constant connectivity, and raises privacy concerns over on-site footage — motivating models light enough to eventually run on-site, not only in the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Status of Current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ML pipeline complete end to end: YOLO26n person + PPE detection, ByteTrack tracking, two independent fine-tuned ViT classifiers (PPE items, fallen state).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YOLO26n trained on a merged 9,515-image detection set (7,611 train / 1,904 val): mean precision 0.79, recall 0.67, mAP@50 0.72.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ViT PPE classifier trained on 16,025 images (13,622 train / 2,403 val) with masked multi-label loss + per-label class weighting: macro-F1 0.866 (mask alone: 0.522 → 0.800).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ViT fall classifier trained on merged public fall datasets: 0.997 val macro-F1 — flagged as inflated by a training-domain gap and currently being corrected (see Research Gaps).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Full-stack app live: Node.js + Express + WebSocket dashboard, JWT auth + bcrypt + rate limiting, persistent SQLite logging with evidence snapshots.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Demo Mode fallback (colour + geometry heuristic) keeps the whole app runnable and demonstrable even without trained weights.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22A33"/>
                </a:solidFill>
              </a:rPr>
              <a:t>Local Intel Arc (XPU) GPU acceleration validated for training and inference, alongside Google Colab (T4) for full training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No single public dataset labels all five PPE items jointly — available sources only overlap partially.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A single flattened accuracy/F1 score hides rare-label weaknesses (mask, at ~1% positive rate, looked fine until inspected per-label).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YOLO12n's attention-heavy architecture proved unstable on Intel XPU hardware (a reproducible device-lost crash) — a gap between published benchmarks and this project's actual target hardware.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No public “worker-fall” dataset exists for construction sites — the nearest available data is generic pedestrian/surveillance fall footage.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That domain mismatch causes real false positives: a model trained only on generic pedestrian imagery misclassifies real construction-worker photos (groups, PPE, tools) as “fallen.”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A33"/>
                </a:solidFill>
              </a:rPr>
              <a:t>The UI compounded this: it hid the (correct) PPE reading whenever “fallen” fired — a good detection hidden behind a wrong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Problem-to-Design Mapping as per the GAP Identified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04088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Gap Identified</a:t>
                      </a:r>
                    </a:p>
                  </a:txBody>
                  <a:tcPr>
                    <a:solidFill>
                      <a:srgbClr val="0461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Design Response</a:t>
                      </a:r>
                    </a:p>
                  </a:txBody>
                  <a:tcPr>
                    <a:solidFill>
                      <a:srgbClr val="04617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Datasets don't jointly cover all 5 PPE labels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Masked multi-label BCE loss — blank cells excluded from loss/metrics via an explicit per-row label mask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Rare-label weakness invisible in one flattened score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Per-label F1 reported every epoch; “best” checkpoint now selected by macro-F1, not a flattened aggregate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Class imbalance hurt whichever label was rare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Automatic per-label pos_weight (neg/pos ratio, capped 10×) inside BCEWithLogitsLoss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YOLO12n unstable on target (XPU) hardware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Switched detector to YOLO26n, per Ultralytics' own attention/stability trade-off documentation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No construction-specific fall dataset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Merged two public Roboflow fall datasets; added the existing PPE dataset's images as free, domain-matched “not fallen” negatives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False “fallen” hid correct PPE detections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</a:rPr>
                        <a:t>Worker-box label redesigned to show fallen status and PPE status together — never one overriding the other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System Architecture Diagram &amp; Database Connectivity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3246120" cy="457200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Webcam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234440"/>
            <a:ext cx="3246120" cy="457200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Uploaded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234440"/>
            <a:ext cx="3246120" cy="457200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Uploaded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19656"/>
            <a:ext cx="7863840" cy="457200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Node.js + Express Server  (pythonBridge.js spawns worker)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78024"/>
            <a:ext cx="7040880" cy="1783080"/>
          </a:xfrm>
          <a:prstGeom prst="roundRect">
            <a:avLst/>
          </a:prstGeom>
          <a:solidFill>
            <a:srgbClr val="F2F6F8"/>
          </a:solidFill>
          <a:ln w="15875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 wrap="square"/>
          <a:lstStyle/>
          <a:p>
            <a:pPr algn="l"/>
            <a:r>
              <a:rPr sz="1050" b="1">
                <a:solidFill>
                  <a:srgbClr val="04617B"/>
                </a:solidFill>
              </a:rPr>
              <a:t>Python Inference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70632"/>
            <a:ext cx="6492240" cy="384048"/>
          </a:xfrm>
          <a:prstGeom prst="roundRect">
            <a:avLst/>
          </a:prstGeom>
          <a:solidFill>
            <a:srgbClr val="E07A1C"/>
          </a:solidFill>
          <a:ln w="12700">
            <a:solidFill>
              <a:srgbClr val="E07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YOLO26n Person Detect + ByteTrack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64408"/>
            <a:ext cx="3154680" cy="384048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ViT PPE Classifier (5 labels)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264408"/>
            <a:ext cx="3154680" cy="384048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ViT Fall Classifier (fallen)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58184"/>
            <a:ext cx="6492240" cy="329184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FFFFFF"/>
                </a:solidFill>
              </a:rPr>
              <a:t>Compliance + Alert Logic (per-worker history, debounce)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462272"/>
            <a:ext cx="7863840" cy="384048"/>
          </a:xfrm>
          <a:prstGeom prst="roundRect">
            <a:avLst/>
          </a:prstGeom>
          <a:solidFill>
            <a:srgbClr val="04617B"/>
          </a:solidFill>
          <a:ln w="12700">
            <a:solidFill>
              <a:srgbClr val="046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WebSocket (ws) Broadcast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010912"/>
            <a:ext cx="7863840" cy="457200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Browser Dashboard  (live feed, alerts, worker log, exports)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819656"/>
            <a:ext cx="2880360" cy="457200"/>
          </a:xfrm>
          <a:prstGeom prst="roundRect">
            <a:avLst/>
          </a:prstGeom>
          <a:solidFill>
            <a:srgbClr val="6B2E46"/>
          </a:solidFill>
          <a:ln w="12700">
            <a:solidFill>
              <a:srgbClr val="6B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JWT + bcrypt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26664"/>
            <a:ext cx="2880360" cy="1005840"/>
          </a:xfrm>
          <a:prstGeom prst="roundRect">
            <a:avLst/>
          </a:prstGeom>
          <a:solidFill>
            <a:srgbClr val="6B2E46"/>
          </a:solidFill>
          <a:ln w="12700">
            <a:solidFill>
              <a:srgbClr val="6B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FFFFFF"/>
                </a:solidFill>
              </a:rPr>
              <a:t>SQLite (sql.js)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users · sessions · worker_history · violations + snapshots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80260" y="1691640"/>
            <a:ext cx="3680460" cy="128016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46420" y="1691640"/>
            <a:ext cx="114300" cy="128016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760720" y="1691640"/>
            <a:ext cx="3451860" cy="128016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343400" y="2276856"/>
            <a:ext cx="1417320" cy="201168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43400" y="4261104"/>
            <a:ext cx="1417320" cy="201168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4846320"/>
            <a:ext cx="0" cy="164592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183880" y="2048256"/>
            <a:ext cx="1508760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183880" y="2276856"/>
            <a:ext cx="1508760" cy="1252728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Identified Tools / Technologies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59436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</a:rPr>
                        <a:t>Tool / Technology</a:t>
                      </a:r>
                    </a:p>
                  </a:txBody>
                  <a:tcPr>
                    <a:solidFill>
                      <a:srgbClr val="0461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461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</a:rPr>
                        <a:t>Why Chosen</a:t>
                      </a:r>
                    </a:p>
                  </a:txBody>
                  <a:tcPr>
                    <a:solidFill>
                      <a:srgbClr val="04617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YOLO26n (Ultralytics)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Person + PPE-item box detection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Real-time at nano size; YOLO12n crashed reproducibly on our XPU hardware per Ultralytics' own attention/stability trade-off docs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PyTorch + Intel XPU backend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Training &amp; inference runtime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Native Arc-GPU acceleration for local development, no cloud dependency required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HuggingFace Transformers (ViT)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Fine-tuned PPE &amp; fall classifiers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Well-supported fine-tuning API over a pretrained ViT-base backbone; simple multi-label sigmoid head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ByteTrack (via Ultralytics)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Multi-object tracking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Associates low-confidence boxes; keeps worker IDs stable through brief occlusion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OpenCV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Frame decode, cropping, overlay drawing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De-facto standard, numpy-native, fast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Node.js + Express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Application server / REST API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Non-blocking I/O suited to concurrent streaming clients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ws (WebSocket)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Live dashboard push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Sub-100ms frame/alert delivery, far lower overhead than polling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SQLite (sql.js)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Persistent storage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Zero-ops embedded database; no separate DB server needed for a single-site deployment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JWT + bcrypt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Auth &amp; session security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Stateless tokens + salted password hashing; standard practice for a multi-user dashboard</a:t>
                      </a:r>
                    </a:p>
                  </a:txBody>
                  <a:tcPr marT="50800" marB="508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Google Colab (T4 GPU)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Training infrastructure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3"/>
                          </a:solidFill>
                        </a:rPr>
                        <a:t>Free GPU access for full training runs beyond local hardware capacity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Plan of Next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Finish the fall-model retrain with domain-matched negatives; re-validate directly against real construction photos, not just held-out splits from the same source datasets.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Complete the interrupted helmet-recovery ViT-PPE retrain (narrower augmentation) and reconcile it against the current checkpoint.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Object-fall detection: add a custom-labelled “object” class, retrain YOLO, and wire up the velocity-based fall trigger already scaffolded in config.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Move toward the “Edge” in EdgeGuard: profile and, where feasible, quantize the trained models for on-device inference.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</a:rPr>
              <a:t>Broader real-world validation: test across varied lighting/camera angles beyond the curated benchmark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>
                <a:solidFill>
                  <a:srgbClr val="222A33"/>
                </a:solidFill>
              </a:rPr>
              <a:t>EdgeGuard now runs end to end — detection, tracking, PPE classification, and fall detection — with real trained weights live in the app for the first time this month, not just the Demo Mode heuristic.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22A33"/>
                </a:solidFill>
              </a:rPr>
              <a:t>Both successes and failures were measured honestly: the fall model's near-perfect validation score was investigated rather than accepted, and the domain gap it hid is already being corrected.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4617B"/>
                </a:solidFill>
              </a:rPr>
              <a:t>Working end-to-end pipeline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4617B"/>
                </a:solidFill>
              </a:rPr>
              <a:t>Trainable, not just pretrained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4617B"/>
                </a:solidFill>
              </a:rPr>
              <a:t>Honest, measured evaluation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4617B"/>
                </a:solidFill>
              </a:rPr>
              <a:t>Real-world gaps found and fixed, not just curated benchmarks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A44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Redmon, J., Divvala, S., Girshick, R., &amp; Farhadi, A. “You Only Look Once: Unified, Real-Time Object Detection.” CVPR, 2016.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Dosovitskiy, A. et al. “An Image is Worth 16x16 Words: Transformers for Image Recognition at Scale.” ICLR, 2021.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Zhang, Y. et al. “ByteTrack: Multi-Object Tracking by Associating Every Detection Box.” ECCV, 2022.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Ultralytics. “Construction-PPE Dataset.” docs.ultralytics.com/datasets/detect/construction-ppe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Ahmad, M. et al. “SH17: A Dataset for Human Safety and PPE Detection in Manufacturing Industry.” (github.com/ahmadmughees/SH17dataset)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Roboflow public “fall-detection” and “person-fallen” datasets (used for ViT fall-classifier training data).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OSHA. Construction Industry “Fatal Four” hazard classification, U.S. Dept. of Labor.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22A33"/>
                </a:solidFill>
              </a:rPr>
              <a:t>Wolf, T. et al. “Transformers: State-of-the-Art Natural Language Processing.” Hugging Face,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93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Ranjeet Bidwe</dc:creator>
  <cp:lastModifiedBy>Lenovo</cp:lastModifiedBy>
  <cp:revision>8</cp:revision>
  <dcterms:created xsi:type="dcterms:W3CDTF">2026-01-16T09:37:22Z</dcterms:created>
  <dcterms:modified xsi:type="dcterms:W3CDTF">2026-08-17T03:21:01Z</dcterms:modified>
</cp:coreProperties>
</file>